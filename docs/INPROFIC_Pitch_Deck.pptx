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01000" y="18288"/>
            <a:ext cx="4160520" cy="6821424"/>
          </a:xfrm>
          <a:prstGeom prst="roundRect">
            <a:avLst>
              <a:gd name="adj" fmla="val 8000"/>
            </a:avLst>
          </a:prstGeom>
          <a:solidFill>
            <a:srgbClr val="0B0D45"/>
          </a:solidFill>
          <a:ln>
            <a:solidFill>
              <a:srgbClr val="0B0D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profic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94360"/>
            <a:ext cx="2880360" cy="52946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417320"/>
            <a:ext cx="1097280" cy="73152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583680" cy="1508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From inventory to commerce—</a:t>
            </a:r>
            <a:br/>
            <a:r>
              <a:t>one connected operation.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749039"/>
            <a:ext cx="63093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0">
                <a:solidFill>
                  <a:srgbClr val="C7C8DD"/>
                </a:solidFill>
                <a:latin typeface="Aptos"/>
              </a:defRPr>
            </a:pPr>
            <a:r>
              <a:t>A production-aware commercial management system for businesses that buy, make, stock, sell, deliver, audit and account for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080760"/>
            <a:ext cx="27432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E7BD65"/>
                </a:solidFill>
                <a:latin typeface="Aptos"/>
              </a:defRPr>
            </a:pPr>
            <a:r>
              <a:t>PRODUCT PITCH DECK</a:t>
            </a:r>
          </a:p>
        </p:txBody>
      </p:sp>
      <p:pic>
        <p:nvPicPr>
          <p:cNvPr id="8" name="Picture 7" descr="inprofic-mark-on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325880"/>
            <a:ext cx="3429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D14900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211D1A"/>
                </a:solidFill>
                <a:latin typeface="Aptos"/>
              </a:defRPr>
            </a:pPr>
            <a:r>
              <a:t>Growing operations fracture across disconnected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6B6662"/>
                </a:solidFill>
                <a:latin typeface="Aptos"/>
              </a:defRPr>
            </a:pPr>
            <a:r>
              <a:t>02</a:t>
            </a:r>
          </a:p>
        </p:txBody>
      </p:sp>
      <p:pic>
        <p:nvPicPr>
          <p:cNvPr id="5" name="Picture 4" descr="inprofic-logo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1920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572768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73152" cy="2743200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92224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Stock lives 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31136"/>
            <a:ext cx="2971800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Purchases, usage, finished stock and availability drift when every team maintains a different sheet.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72768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72768"/>
            <a:ext cx="73152" cy="2743200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792224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Production loses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231136"/>
            <a:ext cx="2971800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Customer demand, recipes, planned output, wastage and shortages become difficult to reconcile.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572768"/>
            <a:ext cx="34290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572768"/>
            <a:ext cx="73152" cy="2743200"/>
          </a:xfrm>
          <a:prstGeom prst="rect">
            <a:avLst/>
          </a:prstGeom>
          <a:solidFill>
            <a:srgbClr val="18794E"/>
          </a:solidFill>
          <a:ln>
            <a:solidFill>
              <a:srgbClr val="187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792224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Money arrives 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231136"/>
            <a:ext cx="2971800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Sales, receivables, payables, expenses and cash balances are reconstructed after the operational event.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892040"/>
            <a:ext cx="9784080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2000" b="1">
                <a:solidFill>
                  <a:srgbClr val="050733"/>
                </a:solidFill>
                <a:latin typeface="Aptos"/>
              </a:defRPr>
            </a:pPr>
            <a:r>
              <a:t>The cost is not another spreadsheet. It is delayed decisions, weak traceability and preventable leakage.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E7BD65"/>
                </a:solidFill>
                <a:latin typeface="Aptos"/>
              </a:defRPr>
            </a:pPr>
            <a:r>
              <a:t>THE INPROFIC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One chain of truth from purchase to payment.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A8A7C3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5" name="Picture 4" descr="inprofic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2050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1874519"/>
            <a:ext cx="1600200" cy="22402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84831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96896"/>
            <a:ext cx="123444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PROCURE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090672"/>
            <a:ext cx="123444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0">
                <a:solidFill>
                  <a:srgbClr val="C7C8DD"/>
                </a:solidFill>
                <a:latin typeface="Aptos"/>
              </a:defRPr>
            </a:pPr>
            <a:r>
              <a:t>Supplier orders</a:t>
            </a:r>
            <a:br/>
            <a:r>
              <a:t>and arrivals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67712" y="2798064"/>
            <a:ext cx="274320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14600" y="1874519"/>
            <a:ext cx="1600200" cy="22402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084831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596896"/>
            <a:ext cx="123444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STOCK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3090672"/>
            <a:ext cx="123444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0">
                <a:solidFill>
                  <a:srgbClr val="C7C8DD"/>
                </a:solidFill>
                <a:latin typeface="Aptos"/>
              </a:defRPr>
            </a:pPr>
            <a:r>
              <a:t>Materials and</a:t>
            </a:r>
            <a:br/>
            <a:r>
              <a:t>finished goods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142232" y="2798064"/>
            <a:ext cx="274320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9120" y="1874519"/>
            <a:ext cx="1600200" cy="22402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084831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596896"/>
            <a:ext cx="123444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90672"/>
            <a:ext cx="123444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0">
                <a:solidFill>
                  <a:srgbClr val="C7C8DD"/>
                </a:solidFill>
                <a:latin typeface="Aptos"/>
              </a:defRPr>
            </a:pPr>
            <a:r>
              <a:t>Plans, batches,</a:t>
            </a:r>
            <a:br/>
            <a:r>
              <a:t>QC and yield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16752" y="2798064"/>
            <a:ext cx="274320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1874519"/>
            <a:ext cx="1600200" cy="22402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084831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596896"/>
            <a:ext cx="123444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090672"/>
            <a:ext cx="123444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0">
                <a:solidFill>
                  <a:srgbClr val="C7C8DD"/>
                </a:solidFill>
                <a:latin typeface="Aptos"/>
              </a:defRPr>
            </a:pPr>
            <a:r>
              <a:t>Counter, online</a:t>
            </a:r>
            <a:br/>
            <a:r>
              <a:t>and distribution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891271" y="2798064"/>
            <a:ext cx="274320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38159" y="1874519"/>
            <a:ext cx="1600200" cy="22402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39" y="2084831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39" y="2596896"/>
            <a:ext cx="123444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ACCOUNT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39" y="3090672"/>
            <a:ext cx="123444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0">
                <a:solidFill>
                  <a:srgbClr val="C7C8DD"/>
                </a:solidFill>
                <a:latin typeface="Aptos"/>
              </a:defRPr>
            </a:pPr>
            <a:r>
              <a:t>Cash, credit,</a:t>
            </a:r>
            <a:br/>
            <a:r>
              <a:t>expenses and margin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937760"/>
            <a:ext cx="987552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Each event updates the next layer without losing the business, customer, product, delivery or audit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D14900"/>
                </a:solidFill>
                <a:latin typeface="Aptos"/>
              </a:defRPr>
            </a:pPr>
            <a:r>
              <a:t>WHY INPROFIC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211D1A"/>
                </a:solidFill>
                <a:latin typeface="Aptos"/>
              </a:defRPr>
            </a:pPr>
            <a:r>
              <a:t>The name carries the operating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6B6662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5" name="Picture 4" descr="inprofic-logo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1920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508760"/>
            <a:ext cx="532180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19656"/>
            <a:ext cx="9601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D14900"/>
                </a:solidFill>
                <a:latin typeface="Aptos"/>
              </a:defRPr>
            </a:pPr>
            <a: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56815" y="1783080"/>
            <a:ext cx="3657600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050733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6815" y="2276856"/>
            <a:ext cx="36118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Know what exists and how it moves.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508760"/>
            <a:ext cx="532180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819656"/>
            <a:ext cx="9601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D14900"/>
                </a:solidFill>
                <a:latin typeface="Aptos"/>
              </a:defRPr>
            </a:pPr>
            <a:r>
              <a:t>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783080"/>
            <a:ext cx="3657600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050733"/>
                </a:solidFill>
                <a:latin typeface="Aptos"/>
              </a:defRPr>
            </a:pPr>
            <a:r>
              <a:t>Procurement +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276856"/>
            <a:ext cx="36118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Connect inputs, plans and physical output.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30752"/>
            <a:ext cx="532180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41648"/>
            <a:ext cx="9601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D14900"/>
                </a:solidFill>
                <a:latin typeface="Aptos"/>
              </a:defRPr>
            </a:pPr>
            <a:r>
              <a:t>FI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56815" y="4005072"/>
            <a:ext cx="3657600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050733"/>
                </a:solidFill>
                <a:latin typeface="Aptos"/>
              </a:defRPr>
            </a:pPr>
            <a:r>
              <a:t>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5" y="4498848"/>
            <a:ext cx="36118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Follow the money created by operations.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3730752"/>
            <a:ext cx="532180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4041648"/>
            <a:ext cx="96012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500" b="1">
                <a:solidFill>
                  <a:srgbClr val="D14900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005072"/>
            <a:ext cx="3657600" cy="34747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050733"/>
                </a:solidFill>
                <a:latin typeface="Aptos"/>
              </a:defRPr>
            </a:pPr>
            <a:r>
              <a:t>Commerce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4498848"/>
            <a:ext cx="361188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Turn validated demand into controlled fulfilment.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E7BD65"/>
                </a:solidFill>
                <a:latin typeface="Aptos"/>
              </a:defRPr>
            </a:pPr>
            <a:r>
              <a:t>BUILT FOR FIVE OPERATING REALITIES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One core, vocabulary shaped to the business.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A8A7C3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5" name="Picture 4" descr="inprofic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2050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508760"/>
            <a:ext cx="3429000" cy="1481328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08760"/>
            <a:ext cx="73152" cy="1481328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BAKERY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297180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Recipes, batches, offcuts and distribution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7" y="1508760"/>
            <a:ext cx="3429000" cy="1481328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7" y="1508760"/>
            <a:ext cx="73152" cy="1481328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RESTAURANT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167128"/>
            <a:ext cx="297180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Recipes, preparation, table service and bulk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508760"/>
            <a:ext cx="3429000" cy="1481328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6448" y="1508760"/>
            <a:ext cx="73152" cy="1481328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67128"/>
            <a:ext cx="297180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Formulas, bills of materials and controlled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474720"/>
            <a:ext cx="5285232" cy="1481328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474720"/>
            <a:ext cx="73152" cy="1481328"/>
          </a:xfrm>
          <a:prstGeom prst="rect">
            <a:avLst/>
          </a:prstGeom>
          <a:solidFill>
            <a:srgbClr val="18794E"/>
          </a:solidFill>
          <a:ln>
            <a:solidFill>
              <a:srgbClr val="187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94176"/>
            <a:ext cx="4828032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WHOLESALE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33087"/>
            <a:ext cx="4828032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Supplier arrivals, distribution pricing and customer credit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474720"/>
            <a:ext cx="5285232" cy="1481328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474720"/>
            <a:ext cx="73152" cy="1481328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3694176"/>
            <a:ext cx="4828032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RETAIL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4133087"/>
            <a:ext cx="4828032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Stock-first purchasing and multichannel sales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D14900"/>
                </a:solidFill>
                <a:latin typeface="Aptos"/>
              </a:defRPr>
            </a:pPr>
            <a:r>
              <a:t>CONTROL INPUTS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211D1A"/>
                </a:solidFill>
                <a:latin typeface="Aptos"/>
              </a:defRPr>
            </a:pPr>
            <a:r>
              <a:t>Inventory and procurement speak the same unit language.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6B6662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5" name="Picture 4" descr="inprofic-logo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1920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508760"/>
            <a:ext cx="34290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08760"/>
            <a:ext cx="73152" cy="3154680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Three-layer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2971800" cy="2331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Buy by bag or carton, track the package in kg or litres, and consume recipes in grams, spoons or caps—without guessing conversions.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290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08760"/>
            <a:ext cx="73152" cy="3154680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Arrival-driven 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167128"/>
            <a:ext cx="2971800" cy="2331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Receiving a purchase updates stock, landed unit cost and supplier history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508760"/>
            <a:ext cx="3429000" cy="3154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508760"/>
            <a:ext cx="73152" cy="3154680"/>
          </a:xfrm>
          <a:prstGeom prst="rect">
            <a:avLst/>
          </a:prstGeom>
          <a:solidFill>
            <a:srgbClr val="18794E"/>
          </a:solidFill>
          <a:ln>
            <a:solidFill>
              <a:srgbClr val="187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Movement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167128"/>
            <a:ext cx="2971800" cy="2331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Low-stock warnings, movement history, market stock and finished inventory remain traceable by business.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074920"/>
            <a:ext cx="1965960" cy="347472"/>
          </a:xfrm>
          <a:prstGeom prst="roundRect">
            <a:avLst>
              <a:gd name="adj" fmla="val 8000"/>
            </a:avLst>
          </a:prstGeom>
          <a:solidFill>
            <a:srgbClr val="F5EFE0"/>
          </a:solidFill>
          <a:ln>
            <a:solidFill>
              <a:srgbClr val="F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4752" y="5157216"/>
            <a:ext cx="1819656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50" b="1">
                <a:solidFill>
                  <a:srgbClr val="211D1A"/>
                </a:solidFill>
                <a:latin typeface="Aptos"/>
              </a:defRPr>
            </a:pPr>
            <a:r>
              <a:t>RAW MATERIALS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493008" y="5084064"/>
            <a:ext cx="658368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15968" y="5074920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F5EFE0"/>
          </a:solidFill>
          <a:ln>
            <a:solidFill>
              <a:srgbClr val="F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5157216"/>
            <a:ext cx="1865376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50" b="1">
                <a:solidFill>
                  <a:srgbClr val="211D1A"/>
                </a:solidFill>
                <a:latin typeface="Aptos"/>
              </a:defRPr>
            </a:pPr>
            <a:r>
              <a:t>PURCHASE ARRIVAL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473952" y="5084064"/>
            <a:ext cx="658368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15200" y="5074920"/>
            <a:ext cx="2011680" cy="347472"/>
          </a:xfrm>
          <a:prstGeom prst="roundRect">
            <a:avLst>
              <a:gd name="adj" fmla="val 8000"/>
            </a:avLst>
          </a:prstGeom>
          <a:solidFill>
            <a:srgbClr val="F5EFE0"/>
          </a:solidFill>
          <a:ln>
            <a:solidFill>
              <a:srgbClr val="F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88352" y="5157216"/>
            <a:ext cx="1865376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50" b="1">
                <a:solidFill>
                  <a:srgbClr val="211D1A"/>
                </a:solidFill>
                <a:latin typeface="Aptos"/>
              </a:defRPr>
            </a:pPr>
            <a:r>
              <a:t>AVAILABLE STOCK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473184" y="5084064"/>
            <a:ext cx="658368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222992" y="5074920"/>
            <a:ext cx="1325880" cy="347472"/>
          </a:xfrm>
          <a:prstGeom prst="roundRect">
            <a:avLst>
              <a:gd name="adj" fmla="val 8000"/>
            </a:avLst>
          </a:prstGeom>
          <a:solidFill>
            <a:srgbClr val="F5EFE0"/>
          </a:solidFill>
          <a:ln>
            <a:solidFill>
              <a:srgbClr val="F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96144" y="5157216"/>
            <a:ext cx="1179576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50" b="1">
                <a:solidFill>
                  <a:srgbClr val="211D1A"/>
                </a:solidFill>
                <a:latin typeface="Aptos"/>
              </a:defRPr>
            </a:pPr>
            <a:r>
              <a:t>COST HISTORY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E7BD65"/>
                </a:solidFill>
                <a:latin typeface="Aptos"/>
              </a:defRPr>
            </a:pPr>
            <a:r>
              <a:t>PRODUCTION-AWARE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Production keeps demand, plans and physical truth distinct.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A8A7C3"/>
                </a:solidFill>
                <a:latin typeface="Aptos"/>
              </a:defRPr>
            </a:pPr>
            <a:r>
              <a:t>07</a:t>
            </a:r>
          </a:p>
        </p:txBody>
      </p:sp>
      <p:pic>
        <p:nvPicPr>
          <p:cNvPr id="5" name="Picture 4" descr="inprofic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2050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35608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17320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Proportional recipes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1417320"/>
            <a:ext cx="6995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Material usage scales against registered batch yield using Decimal precision.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2039112"/>
            <a:ext cx="9802368" cy="13716"/>
          </a:xfrm>
          <a:prstGeom prst="rect">
            <a:avLst/>
          </a:prstGeom>
          <a:solidFill>
            <a:srgbClr val="292B62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313432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Shared Production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313432"/>
            <a:ext cx="6995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Coordinate multiple normal orders, combine stock checks and retain order-level costing.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2935224"/>
            <a:ext cx="9802368" cy="13716"/>
          </a:xfrm>
          <a:prstGeom prst="rect">
            <a:avLst/>
          </a:prstGeom>
          <a:solidFill>
            <a:srgbClr val="292B62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27832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09544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Completion truth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3209544"/>
            <a:ext cx="6995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Record gross output, wastage, saleable units, shortage, planned offcut and unexpected excess.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" y="3831335"/>
            <a:ext cx="9802368" cy="13716"/>
          </a:xfrm>
          <a:prstGeom prst="rect">
            <a:avLst/>
          </a:prstGeom>
          <a:solidFill>
            <a:srgbClr val="292B62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23944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105656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Safe reconciliation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1648" y="4105656"/>
            <a:ext cx="6995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Use traceable surplus or live stock without creating a duplicate sale or production event.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34440" y="4727448"/>
            <a:ext cx="9802368" cy="13716"/>
          </a:xfrm>
          <a:prstGeom prst="rect">
            <a:avLst/>
          </a:prstGeom>
          <a:solidFill>
            <a:srgbClr val="292B62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20055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E7BD6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001768"/>
            <a:ext cx="27432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Compensating reversal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1648" y="5001768"/>
            <a:ext cx="6995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Reverse auditable effects instead of deleting history, then edit as a new pending order.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34440" y="5623559"/>
            <a:ext cx="9802368" cy="13716"/>
          </a:xfrm>
          <a:prstGeom prst="rect">
            <a:avLst/>
          </a:prstGeom>
          <a:solidFill>
            <a:srgbClr val="292B62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D14900"/>
                </a:solidFill>
                <a:latin typeface="Aptos"/>
              </a:defRPr>
            </a:pPr>
            <a:r>
              <a:t>SELL ACROSS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211D1A"/>
                </a:solidFill>
                <a:latin typeface="Aptos"/>
              </a:defRPr>
            </a:pPr>
            <a:r>
              <a:t>Commerce validates demand before it touches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6B6662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5" name="Picture 4" descr="inprofic-logo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1920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481328"/>
            <a:ext cx="34290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81328"/>
            <a:ext cx="73152" cy="1572768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0784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Physical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9696"/>
            <a:ext cx="2971800" cy="7498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Immediate stock-aware selling for walk-ins and direct transactions.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81328"/>
            <a:ext cx="34290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81328"/>
            <a:ext cx="73152" cy="1572768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700784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Online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139696"/>
            <a:ext cx="2971800" cy="7498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Published catalogues, baskets, channel pricing, guest checkout, optional tenant-scoped customer profiles and saved order tracking.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481328"/>
            <a:ext cx="34290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481328"/>
            <a:ext cx="73152" cy="1572768"/>
          </a:xfrm>
          <a:prstGeom prst="rect">
            <a:avLst/>
          </a:prstGeom>
          <a:solidFill>
            <a:srgbClr val="18794E"/>
          </a:solidFill>
          <a:ln>
            <a:solidFill>
              <a:srgbClr val="187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700784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139696"/>
            <a:ext cx="2971800" cy="7498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Bulk minimums, customer/channel price rules, credit and planned production routes.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3657600"/>
            <a:ext cx="301752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200" b="1">
                <a:solidFill>
                  <a:srgbClr val="D14900"/>
                </a:solidFill>
                <a:latin typeface="Aptos"/>
              </a:defRPr>
            </a:pPr>
            <a:r>
              <a:t>PAYMENT-FIRST CHECKOUT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6656" y="4224528"/>
            <a:ext cx="1847088" cy="347472"/>
          </a:xfrm>
          <a:prstGeom prst="roundRect">
            <a:avLst>
              <a:gd name="adj" fmla="val 8000"/>
            </a:avLst>
          </a:prstGeom>
          <a:solidFill>
            <a:srgbClr val="F5EFE0"/>
          </a:solidFill>
          <a:ln>
            <a:solidFill>
              <a:srgbClr val="F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306824"/>
            <a:ext cx="1700784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50" b="1">
                <a:solidFill>
                  <a:srgbClr val="211D1A"/>
                </a:solidFill>
                <a:latin typeface="Aptos"/>
              </a:defRPr>
            </a:pPr>
            <a:r>
              <a:t>Validate basket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551176" y="4233672"/>
            <a:ext cx="310896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916936" y="4224528"/>
            <a:ext cx="1847088" cy="347472"/>
          </a:xfrm>
          <a:prstGeom prst="roundRect">
            <a:avLst>
              <a:gd name="adj" fmla="val 8000"/>
            </a:avLst>
          </a:prstGeom>
          <a:solidFill>
            <a:srgbClr val="F5EFE0"/>
          </a:solidFill>
          <a:ln>
            <a:solidFill>
              <a:srgbClr val="F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0088" y="4306824"/>
            <a:ext cx="1700784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50" b="1">
                <a:solidFill>
                  <a:srgbClr val="211D1A"/>
                </a:solidFill>
                <a:latin typeface="Aptos"/>
              </a:defRPr>
            </a:pPr>
            <a:r>
              <a:t>Snapshot price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791456" y="4233672"/>
            <a:ext cx="310896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57216" y="4224528"/>
            <a:ext cx="1847088" cy="347472"/>
          </a:xfrm>
          <a:prstGeom prst="roundRect">
            <a:avLst>
              <a:gd name="adj" fmla="val 8000"/>
            </a:avLst>
          </a:prstGeom>
          <a:solidFill>
            <a:srgbClr val="F5EFE0"/>
          </a:solidFill>
          <a:ln>
            <a:solidFill>
              <a:srgbClr val="F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0368" y="4306824"/>
            <a:ext cx="1700784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50" b="1">
                <a:solidFill>
                  <a:srgbClr val="211D1A"/>
                </a:solidFill>
                <a:latin typeface="Aptos"/>
              </a:defRPr>
            </a:pPr>
            <a:r>
              <a:t>Verify payment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031736" y="4233672"/>
            <a:ext cx="310896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97496" y="4224528"/>
            <a:ext cx="1847088" cy="347472"/>
          </a:xfrm>
          <a:prstGeom prst="roundRect">
            <a:avLst>
              <a:gd name="adj" fmla="val 8000"/>
            </a:avLst>
          </a:prstGeom>
          <a:solidFill>
            <a:srgbClr val="F5EFE0"/>
          </a:solidFill>
          <a:ln>
            <a:solidFill>
              <a:srgbClr val="F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0648" y="4306824"/>
            <a:ext cx="1700784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50" b="1">
                <a:solidFill>
                  <a:srgbClr val="211D1A"/>
                </a:solidFill>
                <a:latin typeface="Aptos"/>
              </a:defRPr>
            </a:pPr>
            <a:r>
              <a:t>Create intake once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272016" y="4233672"/>
            <a:ext cx="310896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37776" y="4224528"/>
            <a:ext cx="1847088" cy="347472"/>
          </a:xfrm>
          <a:prstGeom prst="roundRect">
            <a:avLst>
              <a:gd name="adj" fmla="val 8000"/>
            </a:avLst>
          </a:prstGeom>
          <a:solidFill>
            <a:srgbClr val="F5EFE0"/>
          </a:solidFill>
          <a:ln>
            <a:solidFill>
              <a:srgbClr val="F5EF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10928" y="4306824"/>
            <a:ext cx="1700784" cy="1463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950" b="1">
                <a:solidFill>
                  <a:srgbClr val="211D1A"/>
                </a:solidFill>
                <a:latin typeface="Aptos"/>
              </a:defRPr>
            </a:pPr>
            <a:r>
              <a:t>Accept into operations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166360"/>
            <a:ext cx="996696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700" b="1">
                <a:solidFill>
                  <a:srgbClr val="050733"/>
                </a:solidFill>
                <a:latin typeface="Aptos"/>
              </a:defRPr>
            </a:pPr>
            <a:r>
              <a:t>Hosted storefront • Customer profiles optional • Product categories • POS-only/supplemental access • Headless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E7BD65"/>
                </a:solidFill>
                <a:latin typeface="Aptos"/>
              </a:defRPr>
            </a:pPr>
            <a:r>
              <a:t>FINANCE WITHOUT RECONSTRUCTION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The financial record follows the operational event.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A8A7C3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5" name="Picture 4" descr="inprofic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2050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508760"/>
            <a:ext cx="3429000" cy="1874519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08760"/>
            <a:ext cx="73152" cy="1874519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Cash 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2971800" cy="10515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Maintain actual money balances across cash, bank and card accounts.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29000" cy="1874519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08760"/>
            <a:ext cx="73152" cy="1874519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Receivables &amp; payables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167128"/>
            <a:ext cx="2971800" cy="10515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Keep customer credit and supplier obligations distinct from fulfilment status.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508760"/>
            <a:ext cx="3429000" cy="1874519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508760"/>
            <a:ext cx="73152" cy="1874519"/>
          </a:xfrm>
          <a:prstGeom prst="rect">
            <a:avLst/>
          </a:prstGeom>
          <a:solidFill>
            <a:srgbClr val="18794E"/>
          </a:solidFill>
          <a:ln>
            <a:solidFill>
              <a:srgbClr val="187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Expenses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167128"/>
            <a:ext cx="2971800" cy="10515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C7C8DD"/>
                </a:solidFill>
                <a:latin typeface="Aptos"/>
              </a:defRPr>
            </a:pPr>
            <a:r>
              <a:t>Capture operational spend and the corresponding payment record.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10058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828800" y="4206240"/>
            <a:ext cx="731520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4206240"/>
            <a:ext cx="2194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Financial transaction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956048" y="4206240"/>
            <a:ext cx="731520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0448" y="4206240"/>
            <a:ext cx="201168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Cash / credit state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955279" y="4206240"/>
            <a:ext cx="731520" cy="320040"/>
          </a:xfrm>
          <a:prstGeom prst="rightArrow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87968" y="4206240"/>
            <a:ext cx="19202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Reports &amp; margin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12080"/>
            <a:ext cx="941832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900" b="1">
                <a:solidFill>
                  <a:srgbClr val="E7BD65"/>
                </a:solidFill>
                <a:latin typeface="Aptos"/>
              </a:defRPr>
            </a:pPr>
            <a:r>
              <a:t>Corrections remain compensating and auditable—not silent rewrites.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D14900"/>
                </a:solidFill>
                <a:latin typeface="Aptos"/>
              </a:defRPr>
            </a:pPr>
            <a:r>
              <a:t>TRUST AND ACCOUNTABILITY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211D1A"/>
                </a:solidFill>
                <a:latin typeface="Aptos"/>
              </a:defRPr>
            </a:pPr>
            <a:r>
              <a:t>Controls are part of the workflow, not an afterthought.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6B6662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5" name="Picture 4" descr="inprofic-logo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1920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508760"/>
            <a:ext cx="34290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508760"/>
            <a:ext cx="73152" cy="3063240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Tenant isolation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67128"/>
            <a:ext cx="2971800" cy="2240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Every business-owned record stays scoped to the active workspace; posted business IDs are never trusted.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290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08760"/>
            <a:ext cx="73152" cy="3063240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Role-aware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167128"/>
            <a:ext cx="2971800" cy="2240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Business Admins, configurable roles and per-user overrides govern visibility; POS-only staff, delivery riders and external auditors enter purpose-built workspaces.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508760"/>
            <a:ext cx="3429000" cy="3063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508760"/>
            <a:ext cx="73152" cy="3063240"/>
          </a:xfrm>
          <a:prstGeom prst="rect">
            <a:avLst/>
          </a:prstGeom>
          <a:solidFill>
            <a:srgbClr val="18794E"/>
          </a:solidFill>
          <a:ln>
            <a:solidFill>
              <a:srgbClr val="1879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728216"/>
            <a:ext cx="297180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Audit-preserving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167128"/>
            <a:ext cx="2971800" cy="22402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Creator trails, movement records, immutable price/usage snapshots and reversal states retain what actually happened.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050733"/>
                </a:solidFill>
                <a:latin typeface="Aptos"/>
              </a:defRPr>
            </a:pPr>
            <a:r>
              <a:t>Built to answer: who did what, for which business, to which stock and money record—and how was it corrected?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E7BD65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Operational reporting stays close to the source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A8A7C3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5" name="Picture 4" descr="inprofic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2050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" y="1481328"/>
            <a:ext cx="2487168" cy="15544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28800"/>
            <a:ext cx="2011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↗  Inventory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340864"/>
            <a:ext cx="19659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50" b="0">
                <a:solidFill>
                  <a:srgbClr val="C7C8DD"/>
                </a:solidFill>
                <a:latin typeface="Aptos"/>
              </a:defRPr>
            </a:pPr>
            <a:r>
              <a:t>Same business scope and status logic as the operating screen.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481328"/>
            <a:ext cx="2487168" cy="15544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1828800"/>
            <a:ext cx="2011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↗  Procurement 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2340864"/>
            <a:ext cx="19659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50" b="0">
                <a:solidFill>
                  <a:srgbClr val="C7C8DD"/>
                </a:solidFill>
                <a:latin typeface="Aptos"/>
              </a:defRPr>
            </a:pPr>
            <a:r>
              <a:t>Same business scope and status logic as the operating screen.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481328"/>
            <a:ext cx="2487168" cy="15544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1828800"/>
            <a:ext cx="2011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↗  Production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2340864"/>
            <a:ext cx="19659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50" b="0">
                <a:solidFill>
                  <a:srgbClr val="C7C8DD"/>
                </a:solidFill>
                <a:latin typeface="Aptos"/>
              </a:defRPr>
            </a:pPr>
            <a:r>
              <a:t>Same business scope and status logic as the operating screen.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481328"/>
            <a:ext cx="2487168" cy="15544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1828800"/>
            <a:ext cx="2011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↗  Sales &amp; channels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340864"/>
            <a:ext cx="19659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50" b="0">
                <a:solidFill>
                  <a:srgbClr val="C7C8DD"/>
                </a:solidFill>
                <a:latin typeface="Aptos"/>
              </a:defRPr>
            </a:pPr>
            <a:r>
              <a:t>Same business scope and status logic as the operating screen.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447288"/>
            <a:ext cx="2487168" cy="15544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794760"/>
            <a:ext cx="2011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↗  Finance movements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306824"/>
            <a:ext cx="19659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50" b="0">
                <a:solidFill>
                  <a:srgbClr val="C7C8DD"/>
                </a:solidFill>
                <a:latin typeface="Aptos"/>
              </a:defRPr>
            </a:pPr>
            <a:r>
              <a:t>Same business scope and status logic as the operating screen.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93008" y="3447288"/>
            <a:ext cx="2487168" cy="15544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3794760"/>
            <a:ext cx="2011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↗  Delivery 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1608" y="4306824"/>
            <a:ext cx="19659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50" b="0">
                <a:solidFill>
                  <a:srgbClr val="C7C8DD"/>
                </a:solidFill>
                <a:latin typeface="Aptos"/>
              </a:defRPr>
            </a:pPr>
            <a:r>
              <a:t>Same business scope and status logic as the operating screen.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2784" y="3447288"/>
            <a:ext cx="2487168" cy="15544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1384" y="3794760"/>
            <a:ext cx="2011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↗  Audit queries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4306824"/>
            <a:ext cx="19659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50" b="0">
                <a:solidFill>
                  <a:srgbClr val="C7C8DD"/>
                </a:solidFill>
                <a:latin typeface="Aptos"/>
              </a:defRPr>
            </a:pPr>
            <a:r>
              <a:t>Same business scope and status logic as the operating screen.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3447288"/>
            <a:ext cx="2487168" cy="155448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3794760"/>
            <a:ext cx="20116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↗  CSV / XLSX / JSON backup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4306824"/>
            <a:ext cx="19659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50" b="0">
                <a:solidFill>
                  <a:srgbClr val="C7C8DD"/>
                </a:solidFill>
                <a:latin typeface="Aptos"/>
              </a:defRPr>
            </a:pPr>
            <a:r>
              <a:t>Same business scope and status logic as the operating screen.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D14900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211D1A"/>
                </a:solidFill>
                <a:latin typeface="Aptos"/>
              </a:defRPr>
            </a:pPr>
            <a:r>
              <a:t>Practical architecture, deployable without lock-in.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6B6662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5" name="Picture 4" descr="inprofic-logo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1920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5840" y="1417320"/>
            <a:ext cx="10149840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1618488"/>
            <a:ext cx="1508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D14900"/>
                </a:solidFill>
                <a:latin typeface="Aptos"/>
              </a:defRPr>
            </a:pPr>
            <a:r>
              <a:t>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1581912"/>
            <a:ext cx="79095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Django server-rendered workspace • public storefront • API and connector boundaries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532888"/>
            <a:ext cx="10149840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61872" y="2734056"/>
            <a:ext cx="1508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D14900"/>
                </a:solidFill>
                <a:latin typeface="Aptos"/>
              </a:defRPr>
            </a:pPr>
            <a:r>
              <a:t>OPERATING 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697480"/>
            <a:ext cx="79095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Accounts • Inventory • Procurement • Production • Sales • Expenses • Commerce • Delivery • Audit •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648456"/>
            <a:ext cx="10149840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3849624"/>
            <a:ext cx="1508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18794E"/>
                </a:solidFill>
                <a:latin typeface="Aptos"/>
              </a:defRPr>
            </a:pPr>
            <a:r>
              <a:t>DATA &amp;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3813048"/>
            <a:ext cx="79095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PostgreSQL/Supabase or SQLite • Cloudflare R2 or local media • WhiteNoise static assets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764024"/>
            <a:ext cx="10149840" cy="850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" y="4965192"/>
            <a:ext cx="1508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00" b="1">
                <a:solidFill>
                  <a:srgbClr val="18794E"/>
                </a:solidFill>
                <a:latin typeface="Aptos"/>
              </a:defRPr>
            </a:pPr>
            <a:r>
              <a:t>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2928" y="4928616"/>
            <a:ext cx="7909560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PythonAnywhere WSGI or Render ASGI/Daphne • WebSocket notifications • health and scheduled 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897880"/>
            <a:ext cx="941832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700" b="1">
                <a:solidFill>
                  <a:srgbClr val="050733"/>
                </a:solidFill>
                <a:latin typeface="Aptos"/>
              </a:defRPr>
            </a:pPr>
            <a:r>
              <a:t>One codebase. Environment-selected infrastructure. Portable operating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E7BD65"/>
                </a:solidFill>
                <a:latin typeface="Aptos"/>
              </a:defRPr>
            </a:pPr>
            <a:r>
              <a:t>SUBSCRIPTION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A modular path from first control to full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A8A7C3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5" name="Picture 4" descr="inprofic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2050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508760"/>
            <a:ext cx="3401568" cy="347472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28346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STARTER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32688" y="2404872"/>
            <a:ext cx="685800" cy="54864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743200"/>
            <a:ext cx="278892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300" b="0">
                <a:solidFill>
                  <a:srgbClr val="C7C8DD"/>
                </a:solidFill>
                <a:latin typeface="Aptos"/>
              </a:defRPr>
            </a:pPr>
            <a:r>
              <a:t>Core workspace and Basic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160520"/>
            <a:ext cx="2743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200" b="1">
                <a:solidFill>
                  <a:srgbClr val="E7BD65"/>
                </a:solidFill>
                <a:latin typeface="Aptos"/>
              </a:defRPr>
            </a:pPr>
            <a:r>
              <a:t>Begin with visibility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1" y="1508760"/>
            <a:ext cx="3401568" cy="347472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1" y="1828800"/>
            <a:ext cx="28346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PRODUCTION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45151" y="2404872"/>
            <a:ext cx="685800" cy="54864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1" y="2743200"/>
            <a:ext cx="278892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300" b="0">
                <a:solidFill>
                  <a:srgbClr val="C7C8DD"/>
                </a:solidFill>
                <a:latin typeface="Aptos"/>
              </a:defRPr>
            </a:pPr>
            <a:r>
              <a:t>Production capabilities and Full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1" y="4160520"/>
            <a:ext cx="2743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200" b="1">
                <a:solidFill>
                  <a:srgbClr val="E7BD65"/>
                </a:solidFill>
                <a:latin typeface="Aptos"/>
              </a:defRPr>
            </a:pPr>
            <a:r>
              <a:t>Control making and yield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508760"/>
            <a:ext cx="3401568" cy="347472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1828800"/>
            <a:ext cx="28346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BUSINESS PRO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57616" y="2404872"/>
            <a:ext cx="685800" cy="54864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2743200"/>
            <a:ext cx="2788920" cy="868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300" b="0">
                <a:solidFill>
                  <a:srgbClr val="C7C8DD"/>
                </a:solidFill>
                <a:latin typeface="Aptos"/>
              </a:defRPr>
            </a:pPr>
            <a:r>
              <a:t>All core modules, plus Founder-toggled Delivery and Audit Workspace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4160520"/>
            <a:ext cx="2743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200" b="1">
                <a:solidFill>
                  <a:srgbClr val="E7BD65"/>
                </a:solidFill>
                <a:latin typeface="Aptos"/>
              </a:defRPr>
            </a:pPr>
            <a:r>
              <a:t>Run the connected business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623560"/>
            <a:ext cx="102412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30-day trial • founder-controlled pricing • plan-gated Delivery and Audit add-ons • monthly/yearly billing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804672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000" b="1">
                <a:solidFill>
                  <a:srgbClr val="D14900"/>
                </a:solidFill>
                <a:latin typeface="Aptos"/>
              </a:defRPr>
            </a:pPr>
            <a:r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5836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2900" b="1">
                <a:solidFill>
                  <a:srgbClr val="211D1A"/>
                </a:solidFill>
                <a:latin typeface="Aptos"/>
              </a:defRPr>
            </a:pPr>
            <a:r>
              <a:t>Why INPROFIC wins the operating conversation.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46520"/>
            <a:ext cx="438912" cy="1828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defRPr sz="900" b="0">
                <a:solidFill>
                  <a:srgbClr val="6B6662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5" name="Picture 4" descr="inprofic-logo-o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6382512"/>
            <a:ext cx="1115568" cy="1920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" y="1417320"/>
            <a:ext cx="34015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17320"/>
            <a:ext cx="73152" cy="1508760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36776"/>
            <a:ext cx="294436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CONNECTED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75688"/>
            <a:ext cx="2944368" cy="68579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Operational and financial truth in the same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1" y="1417320"/>
            <a:ext cx="34015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1" y="1417320"/>
            <a:ext cx="73152" cy="1508760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636776"/>
            <a:ext cx="294436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SPECIFIC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075688"/>
            <a:ext cx="2944368" cy="68579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Production nuance without forcing every business into generic ERP language.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417320"/>
            <a:ext cx="34015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417320"/>
            <a:ext cx="73152" cy="1508760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636776"/>
            <a:ext cx="294436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AUDITABLE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075688"/>
            <a:ext cx="2944368" cy="68579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Stock, payments, delivery events, record-bound auditor queries and corrections retain accountable history.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383280"/>
            <a:ext cx="34015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383280"/>
            <a:ext cx="73152" cy="1508760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02736"/>
            <a:ext cx="294436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ADAPTABLE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41648"/>
            <a:ext cx="2944368" cy="68579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Five verticals, product categories, modular entitlements, in-house rider operations, true Hybrid routing and Glovo LaaS v2.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1" y="3383280"/>
            <a:ext cx="34015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1" y="3383280"/>
            <a:ext cx="73152" cy="1508760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3602736"/>
            <a:ext cx="294436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COMMERCE-READY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4041648"/>
            <a:ext cx="2944368" cy="68579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Validated, payment-first demand flows safely into operations.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3383280"/>
            <a:ext cx="340156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ED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3296" y="3383280"/>
            <a:ext cx="73152" cy="1508760"/>
          </a:xfrm>
          <a:prstGeom prst="rect">
            <a:avLst/>
          </a:prstGeom>
          <a:solidFill>
            <a:srgbClr val="E7BD65"/>
          </a:solidFill>
          <a:ln>
            <a:solidFill>
              <a:srgbClr val="E7BD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3602736"/>
            <a:ext cx="2944368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600" b="1">
                <a:solidFill>
                  <a:srgbClr val="211D1A"/>
                </a:solidFill>
                <a:latin typeface="Aptos"/>
              </a:defRPr>
            </a:pPr>
            <a:r>
              <a:t>PRACTICAL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041648"/>
            <a:ext cx="2944368" cy="68579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150" b="0">
                <a:solidFill>
                  <a:srgbClr val="6B6662"/>
                </a:solidFill>
                <a:latin typeface="Aptos"/>
              </a:defRPr>
            </a:pPr>
            <a:r>
              <a:t>Server-rendered, approachable and designed for day-to-day teams.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3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nprofic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21792"/>
            <a:ext cx="2331720" cy="4286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508760"/>
            <a:ext cx="6858000" cy="2971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Know the stock.</a:t>
            </a:r>
            <a:br/>
            <a:r>
              <a:t>Control the work.</a:t>
            </a:r>
            <a:br/>
            <a:r>
              <a:t>Follow the money.</a:t>
            </a:r>
            <a:br/>
            <a:r>
              <a:t>Serve the customer.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4800600"/>
            <a:ext cx="1920240" cy="73152"/>
          </a:xfrm>
          <a:prstGeom prst="rect">
            <a:avLst/>
          </a:prstGeom>
          <a:solidFill>
            <a:srgbClr val="D14900"/>
          </a:solidFill>
          <a:ln>
            <a:solidFill>
              <a:srgbClr val="D14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5230368"/>
            <a:ext cx="658368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defRPr sz="1500" b="1">
                <a:solidFill>
                  <a:srgbClr val="E7BD65"/>
                </a:solidFill>
                <a:latin typeface="Aptos"/>
              </a:defRPr>
            </a:pPr>
            <a:r>
              <a:t>Inventory • Procurement • Production • Finance • Commerce • Delivery • Audit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234440"/>
            <a:ext cx="2788920" cy="4343400"/>
          </a:xfrm>
          <a:prstGeom prst="roundRect">
            <a:avLst>
              <a:gd name="adj" fmla="val 8000"/>
            </a:avLst>
          </a:prstGeom>
          <a:solidFill>
            <a:srgbClr val="111347"/>
          </a:solidFill>
          <a:ln>
            <a:solidFill>
              <a:srgbClr val="292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1691640"/>
            <a:ext cx="20574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100" b="1">
                <a:solidFill>
                  <a:srgbClr val="E7BD65"/>
                </a:solidFill>
                <a:latin typeface="Aptos"/>
              </a:defRPr>
            </a:pPr>
            <a:r>
              <a:t>THE NEXT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423160"/>
            <a:ext cx="2057400" cy="1600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Put one real business workflow through INPROFIC—from purchase or order to stock, fulfilment and finance.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4343400"/>
            <a:ext cx="2057400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defRPr sz="1200" b="0">
                <a:solidFill>
                  <a:srgbClr val="C7C8DD"/>
                </a:solidFill>
                <a:latin typeface="Aptos"/>
              </a:defRPr>
            </a:pPr>
            <a:r>
              <a:t>See the connected record, not just the feature list.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INPROFIC Product Pitch Deck</dc:title>
  <dc:subject>Inventory, procurement, production, finance and commerce</dc:subject>
  <dc:creator>INPROFIC</dc:creator>
  <cp:keywords>INPROFIC, inventory, procurement, production, finance, commerce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